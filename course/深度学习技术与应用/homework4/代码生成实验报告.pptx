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大家好，今天我将为大家汇报我的代码生成实验。本次实验的核心是实现一个基于Seq2Seq Transformer架构的模型，它能够将自然语言描述直接转化为可执行的Java代码。这项技术旨在探索人工智能在软件开发领域的应用潜力，希望能为提升开发效率提供新的思路。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本次报告将分为七个部分。首先，我会介绍本次实验的任务背景和数据来源。接着，将详细解析我们采用的Seq2Seq Transformer模型架构。之后，会介绍模型的核心模块、关键参数以及详细的训练配置。最后，我们将展示实验结果，分析训练过程，并对整个工作进行总结与讨论。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任务概述。本次实验的任务名称是“代码生成”，核心目标非常明确：构建一个模型，输入是一段自然语言描述，比如“计算两个数的和”，输出是能够实现这个功能的Java代码。这个任务的本质，是将自然语言处理和代码生成这两个领域结合起来，探索用AI辅助软件开发的可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训练我们的模型，我们使用了CONCODE数据集，它来自于知名的CodeXGLUE基准测试集。这个数据集的特点是包含了大量高质量的“自然语言描述-代码片段”对，非常适合用来训练文本到代码的生成模型。CodeXGLUE本身是一个非常权威的平台，为我们的实验提供了可靠的数据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接下来进入第二部分，模型架构详解。我们采用的是经典的Seq2Seq Transformer架构。它的核心思想是把代码生成看作一个翻译任务，左边是自然语言，右边是代码。模型主要由编码器和解码器组成。编码器负责理解输入的自然语言，解码器则根据编码器的理解，一步步生成代码。这张图清晰地展示了信息从输入到输出的完整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深入看一下编码器和解码器。编码器就像一个“读题者”，它通过词嵌入、位置编码、自注意力和前馈网络，将输入的自然语言描述转化为一个富含语义的“记忆”向量。而解码器则像一个“答题者”，它通过三个关键的注意力子层协同工作：掩码自注意力确保它按顺序生成，交叉注意力让它随时参考“题目”（即编码器的输出），最后通过前馈网络生成最终的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为什么我们选择Transformer而不是传统的RNN或LSTM呢？这张页面直观展示了背后的考量。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展示了经典的序列模型，RNN和LSTM虽然在处理序列数据上有历史贡献，但它们最大的瓶颈在于“串行计算”——必须一个词接一个词地处理，无法并行，且对于代码中常见的“方法定义在开头、调用在结尾”这种长距离依赖，捕捉能力较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的Transformer架构图代表了我们的选择。它的核心在于“Attention注意力机制”，这让它具备两大优势：一是所有Token可以同时并行计算，极大提升了训练和推理速度；二是它能直接关联文本中的任意两个位置，完美解决了长距离依赖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右侧的对比表进一步总结了特性差异。对于代码生成这种既需要关注相邻语法Token，又要关联跨越数百行的函数调用关系的复杂任务，Transformer显然是更合适的技术基座。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我们来看一下模型的核心模块和关键参数。我们主要实现了位置编码、编码器、解码器和因果掩码这四个核心模块。同时，我们设置了一系列关键超参数，如模型维度d_model为512，多头注意力的头数为8，编码器和解码器各有4层。这些参数的选择参考了Transformer的原始论文，并根据任务特性进行了微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是训练配置。我们将数据集划分为训练集、验证集和测试集。在数据预处理阶段，我们采用了简单的空格分词，并为自然语言和代码分别构建了词表。同时，我们定义了四个特殊的标记，分别用于填充、表示序列开始、结束以及处理未知词汇。这些预处理步骤是保证模型能够正确理解和处理输入数据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在训练优化方面，我们使用了AdamW优化器，并结合了梯度裁剪来保证训练稳定。学习率采用了先热身再衰减的策略，这是Transformer训练中的常用技巧。我们总共训练了20个Epoch。在推理阶段，我们采用了Beam Search算法，它比简单的贪心搜索效果更好，能够探索更多可能的生成路径，从而找到最优的代码序列。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第五部分，我们来看实验结果。在包含2000个样本的测试集上，我们的模型达到了35%的Exact Match，也就是完全匹配率，这意味着有700个样本被完美地生成了。同时，BLEU分数为19.37。与CodeXGLUE论文中的基线方法相比，我们的Exact Match得分有显著优势。需要说明的是，这主要是因为实验设置的差异，我们的实验条件相对更友好。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第六部分，我们来分析训练过程。这张损失曲线图展示了训练损失和验证损失随训练轮次的变化。可以看到，两条曲线都在持续下降，这表明我们的模型在不断学习和收敛。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损失曲线进行分析，我们可以得出几个结论。首先，模型收敛性良好，没有过拟合。其次，训练损失和验证损失之间存在一个正常的差距，这与我们之前提到的训练和推理方式不同有关。最后，损失曲线在后期虽然下降变缓，但仍在持续降低，说明模型还有提升的空间。我们最终选择了验证损失最低的第20个Epoch的模型作为最佳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模型还有很多可以改进的方向。最有效的方法之一是使用像CodeBERT或CodeT5这样的预训练模型进行微调，这通常能带来巨大的性能提升。此外，采用更精细的分词技术、增加训练轮数以及进行数据增强，都是未来值得尝试的优化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svg"/><Relationship Id="rId8" Type="http://schemas.openxmlformats.org/officeDocument/2006/relationships/image" Target="../media/image44.png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代码生成实验报告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270000" cy="762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Seq2Seq Transformer 的实现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32000" y="6096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23282D">
              <a:alpha val="90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1841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任务概述与背景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任务描述 · 数据来源说明</a:t>
            </a:r>
            <a:endParaRPr lang="en-US" sz="1300" b="0" i="0" u="none" strike="noStrike">
              <a:solidFill>
                <a:srgbClr val="DCDCDC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23282D">
              <a:alpha val="90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492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492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模型架构详解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Seq2Seq Transformer · 编码器 · 解码器</a:t>
            </a:r>
            <a:endParaRPr lang="en-US" sz="1300" b="0" i="0" u="none" strike="noStrike">
              <a:solidFill>
                <a:srgbClr val="DCDCDC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23282D">
              <a:alpha val="90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5143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5143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核心模块与关键参数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核心模块构成 · 关键超参数设置</a:t>
            </a:r>
            <a:endParaRPr lang="en-US" sz="1300" b="0" i="0" u="none" strike="noStrike">
              <a:solidFill>
                <a:srgbClr val="DCDCDC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23282D">
              <a:alpha val="90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1841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66000" y="1841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训练配置方案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 · 优化器选择 · 推理策略</a:t>
            </a:r>
            <a:endParaRPr lang="en-US" sz="1300" b="0" i="0" u="none" strike="noStrike">
              <a:solidFill>
                <a:srgbClr val="DCDCDC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30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23282D">
              <a:alpha val="90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13500" y="3492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66000" y="3492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实验结果展示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多维度评估指标 · 与基线模型性能对比</a:t>
            </a:r>
            <a:endParaRPr lang="en-US" sz="1300" b="0" i="0" u="none" strike="noStrike">
              <a:solidFill>
                <a:srgbClr val="DCDCDC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4953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23282D">
              <a:alpha val="90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5080000"/>
            <a:ext cx="50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0" y="5207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训练过程分析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200" b="0" i="0" u="none" strike="noStrike">
                <a:solidFill>
                  <a:srgbClr val="DCDC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Loss曲线趋势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模型收敛性分析</a:t>
            </a:r>
            <a:endParaRPr lang="en-US" sz="1200" b="0" i="0" u="none" strike="noStrike">
              <a:solidFill>
                <a:srgbClr val="DCDCDC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890000" y="4953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23282D">
              <a:alpha val="90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017000" y="5080000"/>
            <a:ext cx="50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5207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总结与讨论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200" b="0" i="0" u="none" strike="noStrike">
                <a:solidFill>
                  <a:srgbClr val="DCDC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核心优势回顾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未来改进方向</a:t>
            </a:r>
            <a:endParaRPr lang="en-US" sz="1200" b="0" i="0" u="none" strike="noStrike">
              <a:solidFill>
                <a:srgbClr val="DCDCDC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 任务概述与背景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Code Generation (代码生成) ｜</a:t>
            </a:r>
            <a:r>
              <a:rPr lang="en-US" sz="15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核心目标：构建模型将自然语言 (NL) 描述转化为可执行的 Java 代码片段。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任务本质：融合“自然语言理解”与“代码生成”技术，解决软件开发效率瓶颈，实现从“语义”到“语法”的自动化跨越。</a:t>
            </a:r>
            <a:endParaRPr lang="en-US" sz="13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207000" cy="3175000"/>
          </a:xfrm>
          <a:prstGeom prst="roundRect">
            <a:avLst>
              <a:gd name="adj" fmla="val 32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1951" r="11951"/>
          <a:stretch>
            <a:fillRect/>
          </a:stretch>
        </p:blipFill>
        <p:spPr>
          <a:xfrm>
            <a:off x="1016000" y="3556000"/>
            <a:ext cx="2032000" cy="1905000"/>
          </a:xfrm>
          <a:prstGeom prst="rect">
            <a:avLst/>
          </a:prstGeom>
          <a:noFill/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3302000" y="35560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自然语言输入 (NL)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作为模型的输入端，涵盖了用户对功能的需求描述、逻辑定义或业务规则。其形式灵活多样，贴近人类的日常表达习惯，是连接人与机器的桥梁。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558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INPUT: 需求语义描述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43815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223000" y="3175000"/>
            <a:ext cx="5207000" cy="3175000"/>
          </a:xfrm>
          <a:prstGeom prst="roundRect">
            <a:avLst>
              <a:gd name="adj" fmla="val 32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l="14365" r="14365"/>
          <a:stretch>
            <a:fillRect/>
          </a:stretch>
        </p:blipFill>
        <p:spPr>
          <a:xfrm>
            <a:off x="6477000" y="3556000"/>
            <a:ext cx="2032000" cy="1905000"/>
          </a:xfrm>
          <a:prstGeom prst="rect">
            <a:avLst/>
          </a:prstGeom>
          <a:noFill/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763000" y="35560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 代码输出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模型生成的最终结果，通常是符合规范的、可直接编译和运行的代码片段（如方法体）。输出的代码不仅要在语法上正确，更要在逻辑上准确复现输入的需求意图。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558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OUTPUT: 可执行代码片段 (Method Body)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 任务概述与背景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C2026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06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4597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核心数据集：CONCODE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该数据集源于行业公认的代码智能基准测试集</a:t>
            </a:r>
            <a:r>
              <a:rPr lang="en-US" sz="13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CodeXGLUE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，是目前文本到代码生成领域最具代表性的公开数据集之一。</a:t>
            </a:r>
            <a:endParaRPr lang="en-US" sz="13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数据形式与价值</a:t>
            </a:r>
            <a:endParaRPr lang="en-US" sz="16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包含大量高质量的“自然语言描述 - 代码片段”成对样本。这种结构化的数据特征，使其成为训练和验证文本到代码生成模型的极佳资源，能够有效支撑模型对语义的理解和对语法的生成能力。</a:t>
            </a:r>
            <a:endParaRPr lang="en-US" sz="13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C2026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558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9304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CodeXGLUE 基准平台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27800" y="2667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面向代码智能领域的权威基准测试集，汇集了代码搜索、代码翻译、代码生成等多样化任务，旨在为学术界和工业界提供统一、客观的模型性能评估标准。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406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C2026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43688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43434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CONCODE 三大核心特点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5080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✓ 高质量筛选：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严格的质量控制，确保描述与代码逻辑的一致性与准确性。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✓ 边界清晰：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聚焦于方法级代码生成，任务目标明确，降低训练难度。</a:t>
            </a:r>
            <a:endParaRPr lang="en-US" sz="13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模型架构详解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94155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8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48155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整体架构：Seq2Seq Transformer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10155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484755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核心思想：序列到序列的“翻译”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将“自然语言描述 → 代码生成”的过程，视为一个</a:t>
            </a: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序列到序列 (Sequence-to-Sequence)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的翻译任务，本质是不同序列间的语义映射与转换。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3780155"/>
            <a:ext cx="2349500" cy="2032000"/>
          </a:xfrm>
          <a:prstGeom prst="roundRect">
            <a:avLst>
              <a:gd name="adj" fmla="val 5000"/>
            </a:avLst>
          </a:prstGeom>
          <a:solidFill>
            <a:srgbClr val="2D323C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3970655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932555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编码器 (Encoder)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负责“读懂”输入的自然语言描述及上下文，将其压缩并编码为富含语义的向量表示，即</a:t>
            </a:r>
            <a:r>
              <a:rPr lang="en-US" sz="12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Memory</a:t>
            </a: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2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92500" y="3780155"/>
            <a:ext cx="2349500" cy="2032000"/>
          </a:xfrm>
          <a:prstGeom prst="roundRect">
            <a:avLst>
              <a:gd name="adj" fmla="val 5000"/>
            </a:avLst>
          </a:prstGeom>
          <a:solidFill>
            <a:srgbClr val="2D323C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3970655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937000" y="3932555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解码器 (Decoder)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Encoder 输出的 Memory，结合已生成的代码前缀，以</a:t>
            </a:r>
            <a:r>
              <a:rPr lang="en-US" sz="12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自回归</a:t>
            </a: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的方式逐步生成最终的目标代码序列。</a:t>
            </a:r>
            <a:endParaRPr lang="en-US" sz="12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596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模型结构 (Encoder-Decoder)</a:t>
            </a:r>
            <a:endParaRPr lang="en-US" sz="1100"/>
          </a:p>
        </p:txBody>
      </p:sp>
      <p:pic>
        <p:nvPicPr>
          <p:cNvPr id="16" name="图片 15" descr="0c7532e0fa7047b591cb1d08da51255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7505" y="1524635"/>
            <a:ext cx="4521835" cy="4521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模型架构详解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C1C20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06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编码器 (Encoder) —— “读题”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● 词嵌入层 (Embedding)：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将输入单词映射为高维向量，为后续计算打好基础。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● 位置编码 (Positional Encoding)：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向词向量中注入位置信息，确保模型理解词语顺序。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● 多层自注意力 (Self-Attention)：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捕捉词与词之间的联系，解决长文本依赖问题。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● 前馈网络 (FFN)：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对向量进行非线性变换，极大增强模型的表达能力。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最终输出：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生成固定维度的上下文表示</a:t>
            </a:r>
            <a:r>
              <a:rPr lang="en-US" sz="13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`memory`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，浓缩输入文本的全部语义。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C1C20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006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解码器 (Decoder) —— “答题”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01. Masked Self-Attention (掩码自注意力)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限制仅关注已生成的上文，保证输出序列的因果顺序。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02. Cross-Attention (交叉注意力)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将上文结果作为“查询”，去“查阅”编码器输出的`memory`，确保内容准确。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03. 前馈网络 (FFN)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整合所有上下文信息，最终生成下一个目标 token。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模型架构详解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 Transformer 而非 RNN/LSTM?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2413000" cy="2095500"/>
          </a:xfrm>
          <a:prstGeom prst="roundRect">
            <a:avLst>
              <a:gd name="adj" fmla="val 4848"/>
            </a:avLst>
          </a:prstGeom>
          <a:solidFill>
            <a:srgbClr val="1A1A1A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573" b="573"/>
          <a:stretch>
            <a:fillRect/>
          </a:stretch>
        </p:blipFill>
        <p:spPr>
          <a:xfrm>
            <a:off x="889000" y="2159000"/>
            <a:ext cx="2159000" cy="1206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34290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RNN 循环神经网络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序列串行处理 · 梯度易消失</a:t>
            </a:r>
            <a:endParaRPr lang="en-US" sz="10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2413000" cy="2095500"/>
          </a:xfrm>
          <a:prstGeom prst="roundRect">
            <a:avLst>
              <a:gd name="adj" fmla="val 4848"/>
            </a:avLst>
          </a:prstGeom>
          <a:solidFill>
            <a:srgbClr val="1A1A1A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4703" r="4703"/>
          <a:stretch>
            <a:fillRect/>
          </a:stretch>
        </p:blipFill>
        <p:spPr>
          <a:xfrm>
            <a:off x="889000" y="4445000"/>
            <a:ext cx="2159000" cy="1206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762000" y="57150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LSTM 长短期记忆网络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改进记忆性 · 依然串行</a:t>
            </a:r>
            <a:endParaRPr lang="en-US" sz="10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29000" y="2032000"/>
            <a:ext cx="2794000" cy="4381500"/>
          </a:xfrm>
          <a:prstGeom prst="roundRect">
            <a:avLst>
              <a:gd name="adj" fmla="val 3636"/>
            </a:avLst>
          </a:prstGeom>
          <a:solidFill>
            <a:srgbClr val="141414">
              <a:alpha val="95000"/>
            </a:srgbClr>
          </a:solidFill>
          <a:ln w="25400" cap="flat" cmpd="sng">
            <a:solidFill>
              <a:srgbClr val="39FF14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4272" b="14272"/>
          <a:stretch>
            <a:fillRect/>
          </a:stretch>
        </p:blipFill>
        <p:spPr>
          <a:xfrm>
            <a:off x="3619500" y="2222500"/>
            <a:ext cx="2413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429000" y="4953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 架构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Attention is All You Need</a:t>
            </a:r>
            <a:endParaRPr lang="en-US" sz="11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并行计算 · 全局依赖捕捉</a:t>
            </a:r>
            <a:endParaRPr lang="en-US" sz="11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2032000"/>
            <a:ext cx="4953000" cy="4381500"/>
          </a:xfrm>
          <a:prstGeom prst="roundRect">
            <a:avLst>
              <a:gd name="adj" fmla="val 2318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2032000"/>
            <a:ext cx="4953000" cy="609600"/>
          </a:xfrm>
          <a:prstGeom prst="roundRect">
            <a:avLst>
              <a:gd name="adj" fmla="val 0"/>
            </a:avLst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2095500"/>
            <a:ext cx="469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           RNN / LSTM           Transformer (优势)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67500" y="279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并行计算能力：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差 (序列需逐个串行处理)  → </a:t>
            </a:r>
            <a:r>
              <a:rPr lang="en-US" sz="1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优 (所有Token可同时计算)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67500" y="368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长距离依赖捕捉：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弱 (受限于梯度消失)  → </a:t>
            </a:r>
            <a:r>
              <a:rPr lang="en-US" sz="1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强 (任意位置直接Attention关联)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67500" y="457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序列长度与感知：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天然有序但实践受限  → </a:t>
            </a:r>
            <a:r>
              <a:rPr lang="en-US" sz="1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需注入编码，无遗忘风险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67500" y="5461000"/>
            <a:ext cx="4572000" cy="825500"/>
          </a:xfrm>
          <a:prstGeom prst="roundRect">
            <a:avLst>
              <a:gd name="adj" fmla="val 9230"/>
            </a:avLst>
          </a:prstGeom>
          <a:solidFill>
            <a:srgbClr val="39FF14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94500" y="5588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总结：对代码生成，Transformer 可同时高效建模</a:t>
            </a:r>
            <a:r>
              <a:rPr lang="en-US" sz="1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局部相邻依赖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远程方法调用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，是最佳选择。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核心模块与关键参数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核心模块说明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4826000" cy="889000"/>
          </a:xfrm>
          <a:prstGeom prst="roundRect">
            <a:avLst>
              <a:gd name="adj" fmla="val 8571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667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Positional Encoding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使用正弦/余弦函数为序列中的每个token注入位置信息，以保留时序特征。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556000"/>
            <a:ext cx="4826000" cy="889000"/>
          </a:xfrm>
          <a:prstGeom prst="roundRect">
            <a:avLst>
              <a:gd name="adj" fmla="val 8571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3683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 Encoder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模型的编码器主体，通过堆叠自注意力层，负责深度理解输入的自然语言语义。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572000"/>
            <a:ext cx="2349500" cy="1524000"/>
          </a:xfrm>
          <a:prstGeom prst="roundRect">
            <a:avLst>
              <a:gd name="adj" fmla="val 500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699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 Decoder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解码器主体，结合编码器输出与自注意力机制，负责生成最终的目标代码。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429000" y="4572000"/>
            <a:ext cx="2349500" cy="1524000"/>
          </a:xfrm>
          <a:prstGeom prst="roundRect">
            <a:avLst>
              <a:gd name="adj" fmla="val 500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556000" y="4699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Causal Mask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生成上三角矩阵作为掩码，在解码过程中遮挡未来的Token，确保序列生成的因果性。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841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1803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关键超参数配置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2540000"/>
            <a:ext cx="2349500" cy="1206500"/>
          </a:xfrm>
          <a:prstGeom prst="roundRect">
            <a:avLst>
              <a:gd name="adj" fmla="val 6315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40500" y="26670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 &amp; Hidden Dim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d_model = 512</a:t>
            </a:r>
            <a:endParaRPr lang="en-US" sz="20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890000" y="2540000"/>
            <a:ext cx="2349500" cy="1206500"/>
          </a:xfrm>
          <a:prstGeom prst="roundRect">
            <a:avLst>
              <a:gd name="adj" fmla="val 6315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17000" y="26670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Multi-Head Attention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nhead = 8</a:t>
            </a:r>
            <a:endParaRPr lang="en-US" sz="20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13500" y="3873500"/>
            <a:ext cx="2349500" cy="1206500"/>
          </a:xfrm>
          <a:prstGeom prst="roundRect">
            <a:avLst>
              <a:gd name="adj" fmla="val 6315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40005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Layers (Encoder / Decoder)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num_layers = 4</a:t>
            </a:r>
            <a:endParaRPr lang="en-US" sz="20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90000" y="3873500"/>
            <a:ext cx="2349500" cy="1206500"/>
          </a:xfrm>
          <a:prstGeom prst="roundRect">
            <a:avLst>
              <a:gd name="adj" fmla="val 6315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017000" y="40005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Feed Forward Network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dim_ffn = 1024</a:t>
            </a:r>
            <a:endParaRPr lang="en-US" sz="20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13500" y="5207000"/>
            <a:ext cx="4826000" cy="1016000"/>
          </a:xfrm>
          <a:prstGeom prst="roundRect">
            <a:avLst>
              <a:gd name="adj" fmla="val 750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40500" y="533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Dropout Rate (防止过拟合) →</a:t>
            </a:r>
            <a:r>
              <a:rPr lang="en-US" sz="2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0.1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04 训练配置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数据集划分与数据预处理 / Data Splitting &amp; Preprocessing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数据集划分 Dataset Splitting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3200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train.jsonl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( 训练集 | 92.86 MB 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用于模型的核心参数学习与特征提取，占据数据总量的最大比例</a:t>
            </a:r>
            <a:endParaRPr lang="en-US" sz="12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22225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68400" y="43815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dev.jsonl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验证集 | 1.69 MB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用于调整超参数，防止过拟合</a:t>
            </a:r>
            <a:endParaRPr lang="en-US" sz="11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92500" y="4191000"/>
            <a:ext cx="22225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44900" y="43815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test.jsonl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 | 1.81 MB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包含2000个独立样本，用于评估最终泛化能力</a:t>
            </a:r>
            <a:endParaRPr lang="en-US" sz="11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260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 Data Preprocessing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04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 分词策略 (Tokenization)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：采用简单高效的按空格分割 (Space Tokenization)，兼顾处理速度与准确性。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93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 词表构建 (Vocabulary)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：NL(自然语言) 与 Code(代码) 独立建表，过滤低频词，设定阈值</a:t>
            </a:r>
            <a:r>
              <a:rPr lang="en-US" sz="13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min_freq = 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26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 特殊标记 (Special Tokens)：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5334000"/>
            <a:ext cx="1079500" cy="508000"/>
          </a:xfrm>
          <a:prstGeom prst="roundRect">
            <a:avLst>
              <a:gd name="adj" fmla="val 20000"/>
            </a:avLst>
          </a:prstGeom>
          <a:solidFill>
            <a:srgbClr val="39FF14">
              <a:alpha val="1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54356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&lt;PAD&gt; (0)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83500" y="5334000"/>
            <a:ext cx="1079500" cy="508000"/>
          </a:xfrm>
          <a:prstGeom prst="roundRect">
            <a:avLst>
              <a:gd name="adj" fmla="val 20000"/>
            </a:avLst>
          </a:prstGeom>
          <a:solidFill>
            <a:srgbClr val="39FF14">
              <a:alpha val="1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83500" y="54356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&lt;BOS&gt; (1)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0" y="5334000"/>
            <a:ext cx="1079500" cy="508000"/>
          </a:xfrm>
          <a:prstGeom prst="roundRect">
            <a:avLst>
              <a:gd name="adj" fmla="val 20000"/>
            </a:avLst>
          </a:prstGeom>
          <a:solidFill>
            <a:srgbClr val="39FF14">
              <a:alpha val="1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0" y="54356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&lt;EOS&gt; (2)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096500" y="5334000"/>
            <a:ext cx="1079500" cy="508000"/>
          </a:xfrm>
          <a:prstGeom prst="roundRect">
            <a:avLst>
              <a:gd name="adj" fmla="val 20000"/>
            </a:avLst>
          </a:prstGeom>
          <a:solidFill>
            <a:srgbClr val="39FF14">
              <a:alpha val="1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096500" y="54356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&lt;UNK&gt; (3)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04 训练配置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1A1A1A">
              <a:alpha val="8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优化器与学习率调度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优化器：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AdamW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(初始学习率 lr=2e-4, 权重衰减 weight_decay=0.01)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梯度策略：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梯度裁剪 (Gradient Clipping)，最大范数设为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1.0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，有效防止梯度爆炸，确保训练稳定。</a:t>
            </a:r>
            <a:endParaRPr lang="en-US" sz="13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学习率动态调整：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Warmup + Decay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(前10%步数线性预热，随后按步数0.5次幂衰减) + 监控验证集Loss的 ReduceLROnPlateau 策略。</a:t>
            </a:r>
            <a:endParaRPr lang="en-US" sz="13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基础训练参数：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Batch Size =</a:t>
            </a: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64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Total Epochs =</a:t>
            </a: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endParaRPr lang="en-US" sz="16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1A1A1A">
              <a:alpha val="8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🧠 推理策略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17660" b="17660"/>
          <a:stretch>
            <a:fillRect/>
          </a:stretch>
        </p:blipFill>
        <p:spPr>
          <a:xfrm>
            <a:off x="6540500" y="2667000"/>
            <a:ext cx="4572000" cy="1905000"/>
          </a:xfrm>
          <a:prstGeom prst="rect">
            <a:avLst/>
          </a:prstGeom>
          <a:noFill/>
          <a:ln w="12700" cap="flat" cmpd="sng">
            <a:solidFill>
              <a:srgbClr val="39FF14">
                <a:alpha val="2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77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解码算法：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Beam Search (束搜索)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，通过探索多个候选路径生成更优的序列，效果优于贪心搜索。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束宽 (Beam Size)：</a:t>
            </a:r>
            <a:r>
              <a:rPr lang="en-US" sz="15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最大生成长度 (Max Length)：</a:t>
            </a:r>
            <a:r>
              <a:rPr lang="en-US" sz="15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50</a:t>
            </a:r>
            <a:endParaRPr lang="en-US" sz="15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05 实验结果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1C1C20">
              <a:alpha val="95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📊 测试集评估表现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1524000" cy="1905000"/>
          </a:xfrm>
          <a:prstGeom prst="roundRect">
            <a:avLst>
              <a:gd name="adj" fmla="val 6666"/>
            </a:avLst>
          </a:prstGeom>
          <a:solidFill>
            <a:srgbClr val="2D2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667000"/>
            <a:ext cx="127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35.00%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34290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Exact Match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完全匹配率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(约700/2000正确)</a:t>
            </a:r>
            <a:endParaRPr lang="en-US" sz="11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603500" y="2413000"/>
            <a:ext cx="1524000" cy="1905000"/>
          </a:xfrm>
          <a:prstGeom prst="roundRect">
            <a:avLst>
              <a:gd name="adj" fmla="val 6666"/>
            </a:avLst>
          </a:prstGeom>
          <a:solidFill>
            <a:srgbClr val="2D2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730500" y="2667000"/>
            <a:ext cx="127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19.37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30500" y="34290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BLEU Score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衡量N-gram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重叠相似度</a:t>
            </a:r>
            <a:endParaRPr lang="en-US" sz="11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191000" y="2413000"/>
            <a:ext cx="1524000" cy="1905000"/>
          </a:xfrm>
          <a:prstGeom prst="roundRect">
            <a:avLst>
              <a:gd name="adj" fmla="val 6666"/>
            </a:avLst>
          </a:prstGeom>
          <a:solidFill>
            <a:srgbClr val="2D2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18000" y="2667000"/>
            <a:ext cx="127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2,000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18000" y="34290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测试样本量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CONCODE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官方标准测试集</a:t>
            </a:r>
            <a:endParaRPr lang="en-US" sz="11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524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1C1C20">
              <a:alpha val="95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⚔️ 与SOTA基线模型对比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413000"/>
            <a:ext cx="4699000" cy="2032000"/>
          </a:xfrm>
          <a:prstGeom prst="roundRect">
            <a:avLst>
              <a:gd name="adj" fmla="val 0"/>
            </a:avLst>
          </a:prstGeom>
          <a:solidFill>
            <a:srgbClr val="23232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2476500"/>
            <a:ext cx="444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🔹 Retrieval / Seq2Seq / Seq2Prod / Ours(论文)：EM均 &lt; 9.0%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🏆 本实验模型 (Ours)</a:t>
            </a:r>
            <a:r>
              <a:rPr lang="en-US" sz="14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| EM:</a:t>
            </a: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35.00%</a:t>
            </a:r>
            <a:r>
              <a:rPr lang="en-US" sz="12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✨ (显著优势)</a:t>
            </a:r>
            <a:endParaRPr lang="en-US" sz="1200" b="0" i="0" u="none" strike="noStrike">
              <a:solidFill>
                <a:srgbClr val="FFD7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1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注：对比来源为 CodeXGLUE 论文公开数据。虽然 BLEU 得分略低于部分基线，但在最关键的“完全匹配”任务上，我们的方法展现了压倒性的优势。</a:t>
            </a:r>
            <a:endParaRPr lang="en-US" sz="1100" b="0" i="0" u="none" strike="noStrike">
              <a:solidFill>
                <a:srgbClr val="A0A0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141419">
              <a:alpha val="92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397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78000" y="52705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关键分析：为何得分显著高于论文基线？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主要差异源于</a:t>
            </a:r>
            <a:r>
              <a:rPr lang="en-US" sz="13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实验设置不同</a:t>
            </a: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。论文中的基线模型均在更具挑战性的“跨仓库泛化”设置下训练和测试；而本实验采用了标准的随机划分训练集/测试集，实验条件相对更友好。即便如此，35% 的完全匹配率也充分证明了模型的代码生成能力。</a:t>
            </a:r>
            <a:endParaRPr lang="en-US" sz="13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06 训练过程分析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Loss 曲线图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99440" y="33528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这张图展示了在20个Epoch的训练过程中，训练损失（Train Loss）和验证损失（Val Loss）的变化趋势。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两条曲线均呈现出清晰的下降趋势，表明模型在训练过程中持续有效地学习数据特征，最终实现良好的收敛，验证了模型架构与训练策略的有效性。</a:t>
            </a:r>
            <a:endParaRPr lang="en-US" sz="1400" b="0" i="0" u="none" strike="noStrike">
              <a:solidFill>
                <a:srgbClr val="B4BEC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5842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E78"/>
                </a:solidFill>
                <a:latin typeface="Noto Sans SC"/>
                <a:ea typeface="Noto Sans SC"/>
                <a:cs typeface="Noto Sans SC"/>
                <a:sym typeface="Noto Sans SC"/>
              </a:rPr>
              <a:t>Train Loss vs. Val Loss (20 Epochs)</a:t>
            </a:r>
            <a:endParaRPr lang="en-US" sz="1100"/>
          </a:p>
        </p:txBody>
      </p:sp>
      <p:pic>
        <p:nvPicPr>
          <p:cNvPr id="9" name="图片 8" descr="training_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940" y="2544445"/>
            <a:ext cx="6294120" cy="3147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06 训练过程分析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 曲线分析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603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收敛性良好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训练与验证损失在全程持续单调下降，无明显震荡，未出现过拟合迹象，模型学习过程稳定。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619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Gap 分析 (Loss差距 ~1.2)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训练损失与验证损失存在合理差距，主要源于训练阶段的 Teacher Forcing 机制与推理阶段的自回归生成方式的本质差异。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2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7625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下降速率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前5个Epoch损失下降最显著；后期趋于平缓但仍持续降低，表明模型仍有优化潜力。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3000" y="482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318000" y="4762500"/>
            <a:ext cx="152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最佳模型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第 20 Epoch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Val Loss 降至</a:t>
            </a:r>
            <a:r>
              <a:rPr lang="en-US" sz="1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2.152</a:t>
            </a:r>
            <a:endParaRPr lang="en-US" sz="1200" b="1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77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 关键节点损失数据</a:t>
            </a:r>
            <a:endParaRPr lang="en-US" sz="11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6477000" y="2667000"/>
          <a:ext cx="4528820" cy="33248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7620"/>
                <a:gridCol w="1625600"/>
                <a:gridCol w="1625600"/>
              </a:tblGrid>
              <a:tr h="64325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Epoch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556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Train Loss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556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 Loss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5563">
                        <a:alpha val="100000"/>
                      </a:srgbClr>
                    </a:solidFill>
                  </a:tcPr>
                </a:tc>
              </a:tr>
              <a:tr h="53657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6.861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2.607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0"/>
                      </a:srgbClr>
                    </a:solidFill>
                  </a:tcPr>
                </a:tc>
              </a:tr>
              <a:tr h="53594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3.987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2.323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</a:tr>
              <a:tr h="53657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3.650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2.236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>
                        <a:alpha val="100000"/>
                      </a:srgbClr>
                    </a:solidFill>
                  </a:tcPr>
                </a:tc>
              </a:tr>
              <a:tr h="53594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3.458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2.188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</a:tr>
              <a:tr h="53657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9FF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 (Best)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3.321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9FF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2.152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07 总结与讨论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未来优化与可改进方向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C1E26">
              <a:alpha val="90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0356" b="10356"/>
          <a:stretch>
            <a:fillRect/>
          </a:stretch>
        </p:blipFill>
        <p:spPr>
          <a:xfrm>
            <a:off x="952500" y="2222500"/>
            <a:ext cx="4826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952500" y="4064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01. 预训练模型微调 (Fine-tuning)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CodeBERT / CodeT5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等在海量代码语料上预训练好的模型进行任务微调，利用其通用知识可极大提升特定任务下的代码理解与生成性能。</a:t>
            </a:r>
            <a:endParaRPr lang="en-US" sz="13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5334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02. 更精细的子词级分词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将基础分词替换为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BPE (Byte-Pair Encoding)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WordPiece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技术，有效缓解未登录词(OOV)带来的信息丢失问题，提升对复杂词汇的处理能力。</a:t>
            </a:r>
            <a:endParaRPr lang="en-US" sz="13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C1E26">
              <a:alpha val="90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t="15789" b="15789"/>
          <a:stretch>
            <a:fillRect/>
          </a:stretch>
        </p:blipFill>
        <p:spPr>
          <a:xfrm>
            <a:off x="6413500" y="2222500"/>
            <a:ext cx="4826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413500" y="4064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03. 增加训练轮数 (Epochs)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从实验Loss曲线分析，损失值仍处于持续下降趋势，未出现明显过拟合。适当增加训练轮数，给予模型更多学习机会，有望进一步挖掘性能潜力。</a:t>
            </a:r>
            <a:endParaRPr lang="en-US" sz="13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413500" y="5334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04. 多样化的数据增强策略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通过代码语义保留重构、变量随机重命名、代码片段同义替换等方法扩充数据集，增加样本多样性，提升模型的泛化能力与鲁棒性。</a:t>
            </a:r>
            <a:endParaRPr lang="en-US" sz="13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4392</Words>
  <Application>WPS 演示</Application>
  <PresentationFormat/>
  <Paragraphs>315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儷宋 Pro</vt:lpstr>
      <vt:lpstr>宋体-简</vt:lpstr>
      <vt:lpstr>Apple Color Emoji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horiki</cp:lastModifiedBy>
  <cp:revision>21</cp:revision>
  <dcterms:created xsi:type="dcterms:W3CDTF">2026-04-25T04:34:51Z</dcterms:created>
  <dcterms:modified xsi:type="dcterms:W3CDTF">2026-04-25T04:34:51Z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D561CB2E9ECFEEA4E143EC6984E72D2F_42</vt:lpwstr>
  </property>
  <property fmtid="{D5CDD505-2E9C-101B-9397-08002B2CF9AE}" pid="3" name="KSOProductBuildVer">
    <vt:lpwstr>2052-12.1.25869.25869</vt:lpwstr>
  </property>
</Properties>
</file>